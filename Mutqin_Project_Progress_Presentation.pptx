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ce19cb737e4ced" /><Relationship Type="http://schemas.openxmlformats.org/officeDocument/2006/relationships/extended-properties" Target="/docProps/app.xml" Id="R49f1349afcd04545" /><Relationship Type="http://schemas.openxmlformats.org/officeDocument/2006/relationships/officeDocument" Target="/ppt/presentation.xml" Id="Re380b3dbad6447eb" /></Relationships>
</file>

<file path=ppt/presentation.xml><?xml version="1.0" encoding="utf-8"?>
<p:presentation xmlns:p="http://schemas.openxmlformats.org/presentationml/2006/main">
  <p:sldMasterIdLst>
    <p:sldMasterId xmlns:r="http://schemas.openxmlformats.org/officeDocument/2006/relationships" id="2147483648" r:id="Rb53ef7f8d17b4584"/>
  </p:sldMasterIdLst>
  <p:notesMasterIdLst>
    <p:notesMasterId xmlns:r="http://schemas.openxmlformats.org/officeDocument/2006/relationships" r:id="R93208fea4f8341ee"/>
  </p:notesMasterIdLst>
  <p:sldIdLst>
    <p:sldId xmlns:r="http://schemas.openxmlformats.org/officeDocument/2006/relationships" id="256" r:id="R42083f1a0fab4e92"/>
    <p:sldId xmlns:r="http://schemas.openxmlformats.org/officeDocument/2006/relationships" id="257" r:id="R61017b0dc4a54c63"/>
    <p:sldId xmlns:r="http://schemas.openxmlformats.org/officeDocument/2006/relationships" id="258" r:id="R0f694c4743ca42f3"/>
    <p:sldId xmlns:r="http://schemas.openxmlformats.org/officeDocument/2006/relationships" id="259" r:id="R494572a8ad994cfc"/>
    <p:sldId xmlns:r="http://schemas.openxmlformats.org/officeDocument/2006/relationships" id="260" r:id="Rbc935eb7c462465f"/>
    <p:sldId xmlns:r="http://schemas.openxmlformats.org/officeDocument/2006/relationships" id="261" r:id="R8fe5b93694274279"/>
    <p:sldId xmlns:r="http://schemas.openxmlformats.org/officeDocument/2006/relationships" id="262" r:id="R015136efb8ec4697"/>
    <p:sldId xmlns:r="http://schemas.openxmlformats.org/officeDocument/2006/relationships" id="263" r:id="R666e27fb0f804483"/>
    <p:sldId xmlns:r="http://schemas.openxmlformats.org/officeDocument/2006/relationships" id="264" r:id="R433c79f87fde4e6a"/>
    <p:sldId xmlns:r="http://schemas.openxmlformats.org/officeDocument/2006/relationships" id="265" r:id="R946b94fe63d343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025cd93bab4f7e" /><Relationship Type="http://schemas.openxmlformats.org/officeDocument/2006/relationships/slideMaster" Target="/ppt/slideMasters/slideMaster1.xml" Id="Rb53ef7f8d17b4584" /><Relationship Type="http://schemas.openxmlformats.org/officeDocument/2006/relationships/notesMaster" Target="/ppt/notesMasters/notesMaster1.xml" Id="R93208fea4f8341ee" /><Relationship Type="http://schemas.openxmlformats.org/officeDocument/2006/relationships/presProps" Target="/ppt/presProps.xml" Id="Rca992db118c34780" /><Relationship Type="http://schemas.openxmlformats.org/officeDocument/2006/relationships/tableStyles" Target="/ppt/tableStyles.xml" Id="R8c0e1203b5454e33" /><Relationship Type="http://schemas.openxmlformats.org/officeDocument/2006/relationships/slide" Target="/ppt/slides/slide1.xml" Id="R42083f1a0fab4e92" /><Relationship Type="http://schemas.openxmlformats.org/officeDocument/2006/relationships/slide" Target="/ppt/slides/slide2.xml" Id="R61017b0dc4a54c63" /><Relationship Type="http://schemas.openxmlformats.org/officeDocument/2006/relationships/slide" Target="/ppt/slides/slide3.xml" Id="R0f694c4743ca42f3" /><Relationship Type="http://schemas.openxmlformats.org/officeDocument/2006/relationships/slide" Target="/ppt/slides/slide4.xml" Id="R494572a8ad994cfc" /><Relationship Type="http://schemas.openxmlformats.org/officeDocument/2006/relationships/slide" Target="/ppt/slides/slide5.xml" Id="Rbc935eb7c462465f" /><Relationship Type="http://schemas.openxmlformats.org/officeDocument/2006/relationships/slide" Target="/ppt/slides/slide6.xml" Id="R8fe5b93694274279" /><Relationship Type="http://schemas.openxmlformats.org/officeDocument/2006/relationships/slide" Target="/ppt/slides/slide7.xml" Id="R015136efb8ec4697" /><Relationship Type="http://schemas.openxmlformats.org/officeDocument/2006/relationships/slide" Target="/ppt/slides/slide8.xml" Id="R666e27fb0f804483" /><Relationship Type="http://schemas.openxmlformats.org/officeDocument/2006/relationships/slide" Target="/ppt/slides/slide9.xml" Id="R433c79f87fde4e6a" /><Relationship Type="http://schemas.openxmlformats.org/officeDocument/2006/relationships/slide" Target="/ppt/slides/slide10.xml" Id="R946b94fe63d343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34e7e8a20a40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19259a60584f37" /><Relationship Type="http://schemas.openxmlformats.org/officeDocument/2006/relationships/notesMaster" Target="/ppt/notesMasters/notesMaster1.xml" Id="Rb058f333339747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c8e6c87c76456f" /><Relationship Type="http://schemas.openxmlformats.org/officeDocument/2006/relationships/notesMaster" Target="/ppt/notesMasters/notesMaster1.xml" Id="R53d7201835a74c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808cb22335422e" /><Relationship Type="http://schemas.openxmlformats.org/officeDocument/2006/relationships/notesMaster" Target="/ppt/notesMasters/notesMaster1.xml" Id="Rec2598b4e77640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a18ccfd02a43f8" /><Relationship Type="http://schemas.openxmlformats.org/officeDocument/2006/relationships/notesMaster" Target="/ppt/notesMasters/notesMaster1.xml" Id="Rc5a2ec62100f44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ec08e926134078" /><Relationship Type="http://schemas.openxmlformats.org/officeDocument/2006/relationships/notesMaster" Target="/ppt/notesMasters/notesMaster1.xml" Id="Rb9abadcd9a1a49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16ec45217e47d0" /><Relationship Type="http://schemas.openxmlformats.org/officeDocument/2006/relationships/notesMaster" Target="/ppt/notesMasters/notesMaster1.xml" Id="Rceba88fa2d2044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83bf8135ca741a6" /><Relationship Type="http://schemas.openxmlformats.org/officeDocument/2006/relationships/notesMaster" Target="/ppt/notesMasters/notesMaster1.xml" Id="Rf4208fe57b514b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6620fa1d6045cf" /><Relationship Type="http://schemas.openxmlformats.org/officeDocument/2006/relationships/notesMaster" Target="/ppt/notesMasters/notesMaster1.xml" Id="R4e3e8f19e9f14d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cc19be92d84454" /><Relationship Type="http://schemas.openxmlformats.org/officeDocument/2006/relationships/notesMaster" Target="/ppt/notesMasters/notesMaster1.xml" Id="Rac56340eefbb40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a8bda9dac547d6" /><Relationship Type="http://schemas.openxmlformats.org/officeDocument/2006/relationships/notesMaster" Target="/ppt/notesMasters/notesMaster1.xml" Id="Rd541285652dd43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positioning Mutqin as a working mobile foundation rather than a finished production service. The purpose of this review is to show what can already be demonstrated and what must be completed next.</a:t>
            </a:r>
          </a:p>
          <a:p xmlns:a="http://schemas.openxmlformats.org/drawingml/2006/main">
            <a:r>
              <a:t/>
            </a:r>
          </a:p>
          <a:p xmlns:a="http://schemas.openxmlformats.org/drawingml/2006/main">
            <a:r>
              <a:t>[Sources]</a:t>
            </a:r>
          </a:p>
          <a:p xmlns:a="http://schemas.openxmlformats.org/drawingml/2006/main">
            <a:r>
              <a:t>- Local Mutqin repository</a:t>
            </a:r>
          </a:p>
          <a:p xmlns:a="http://schemas.openxmlformats.org/drawingml/2006/main">
            <a:r>
              <a:t>- Current workspace date: 2026-08-05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message is that the project has crossed the scaffold stage. Core content and navigation work on-device, while server-dependent and release-hardening work remains.</a:t>
            </a:r>
          </a:p>
          <a:p xmlns:a="http://schemas.openxmlformats.org/drawingml/2006/main">
            <a:r>
              <a:t/>
            </a:r>
          </a:p>
          <a:p xmlns:a="http://schemas.openxmlformats.org/drawingml/2006/main">
            <a:r>
              <a:t>[Sources]</a:t>
            </a:r>
          </a:p>
          <a:p xmlns:a="http://schemas.openxmlformats.org/drawingml/2006/main">
            <a:r>
              <a:t>- app/ routes</a:t>
            </a:r>
          </a:p>
          <a:p xmlns:a="http://schemas.openxmlformats.org/drawingml/2006/main">
            <a:r>
              <a:t>- src/features/</a:t>
            </a:r>
          </a:p>
          <a:p xmlns:a="http://schemas.openxmlformats.org/drawingml/2006/main">
            <a:r>
              <a:t>- app.config.js</a:t>
            </a:r>
          </a:p>
          <a:p xmlns:a="http://schemas.openxmlformats.org/drawingml/2006/main">
            <a:r>
              <a:t>- src/services/api/client.ts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app as three connected experiences: reading, reference content, and daily practice. Avoid presenting the AI evaluation as production-ready on this slide.</a:t>
            </a:r>
          </a:p>
          <a:p xmlns:a="http://schemas.openxmlformats.org/drawingml/2006/main">
            <a:r>
              <a:t/>
            </a:r>
          </a:p>
          <a:p xmlns:a="http://schemas.openxmlformats.org/drawingml/2006/main">
            <a:r>
              <a:t>[Sources]</a:t>
            </a:r>
          </a:p>
          <a:p xmlns:a="http://schemas.openxmlformats.org/drawingml/2006/main">
            <a:r>
              <a:t>- src/features/quran/</a:t>
            </a:r>
          </a:p>
          <a:p xmlns:a="http://schemas.openxmlformats.org/drawingml/2006/main">
            <a:r>
              <a:t>- src/features/library/</a:t>
            </a:r>
          </a:p>
          <a:p xmlns:a="http://schemas.openxmlformats.org/drawingml/2006/main">
            <a:r>
              <a:t>- src/features/bookmarks/</a:t>
            </a:r>
          </a:p>
          <a:p xmlns:a="http://schemas.openxmlformats.org/drawingml/2006/main">
            <a:r>
              <a:t>- src/features/prayer/</a:t>
            </a:r>
          </a:p>
          <a:p xmlns:a="http://schemas.openxmlformats.org/drawingml/2006/main">
            <a:r>
              <a:t>- src/features/home/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come directly from the bundled database, not estimated progress percentages. The content pack is currently about 55 MB and passed SQLite integrity checks.</a:t>
            </a:r>
          </a:p>
          <a:p xmlns:a="http://schemas.openxmlformats.org/drawingml/2006/main">
            <a:r>
              <a:t/>
            </a:r>
          </a:p>
          <a:p xmlns:a="http://schemas.openxmlformats.org/drawingml/2006/main">
            <a:r>
              <a:t>[Sources]</a:t>
            </a:r>
          </a:p>
          <a:p xmlns:a="http://schemas.openxmlformats.org/drawingml/2006/main">
            <a:r>
              <a:t>- assets/db/quran-content.db</a:t>
            </a:r>
          </a:p>
          <a:p xmlns:a="http://schemas.openxmlformats.org/drawingml/2006/main">
            <a:r>
              <a:t>- src/services/storage/sqlite.ts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offline reference content is the source of truth on the device, while server-dependent functions are isolated behind service interfaces. This reduces the cost of changing the eventual AI provider.</a:t>
            </a:r>
          </a:p>
          <a:p xmlns:a="http://schemas.openxmlformats.org/drawingml/2006/main">
            <a:r>
              <a:t/>
            </a:r>
          </a:p>
          <a:p xmlns:a="http://schemas.openxmlformats.org/drawingml/2006/main">
            <a:r>
              <a:t>[Sources]</a:t>
            </a:r>
          </a:p>
          <a:p xmlns:a="http://schemas.openxmlformats.org/drawingml/2006/main">
            <a:r>
              <a:t>- src/services/storage/</a:t>
            </a:r>
          </a:p>
          <a:p xmlns:a="http://schemas.openxmlformats.org/drawingml/2006/main">
            <a:r>
              <a:t>- src/services/ai/hifzEvaluationProvider.ts</a:t>
            </a:r>
          </a:p>
          <a:p xmlns:a="http://schemas.openxmlformats.org/drawingml/2006/main">
            <a:r>
              <a:t>- src/config/di.ts</a:t>
            </a:r>
          </a:p>
          <a:p xmlns:a="http://schemas.openxmlformats.org/drawingml/2006/main">
            <a:r>
              <a:t>- src/lib/queryClient.ts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mobile workflow and server contract exist, but the AI service should still be treated as a prototype. Real inference requires a backend; the full general backend does not need to be finished first.</a:t>
            </a:r>
          </a:p>
          <a:p xmlns:a="http://schemas.openxmlformats.org/drawingml/2006/main">
            <a:r>
              <a:t/>
            </a:r>
          </a:p>
          <a:p xmlns:a="http://schemas.openxmlformats.org/drawingml/2006/main">
            <a:r>
              <a:t>[Sources]</a:t>
            </a:r>
          </a:p>
          <a:p xmlns:a="http://schemas.openxmlformats.org/drawingml/2006/main">
            <a:r>
              <a:t>- src/features/hifz/</a:t>
            </a:r>
          </a:p>
          <a:p xmlns:a="http://schemas.openxmlformats.org/drawingml/2006/main">
            <a:r>
              <a:t>- src/services/ai/</a:t>
            </a:r>
          </a:p>
          <a:p xmlns:a="http://schemas.openxmlformats.org/drawingml/2006/main">
            <a:r>
              <a:t>- mutqin-ai-service/app/</a:t>
            </a:r>
          </a:p>
          <a:p xmlns:a="http://schemas.openxmlformats.org/drawingml/2006/main">
            <a:r>
              <a:t>- mutqin-ai-service/README.md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the evidence. The app has a sound structural baseline, but this is not the same as a complete device test matrix or a validated recitation model.</a:t>
            </a:r>
          </a:p>
          <a:p xmlns:a="http://schemas.openxmlformats.org/drawingml/2006/main">
            <a:r>
              <a:t/>
            </a:r>
          </a:p>
          <a:p xmlns:a="http://schemas.openxmlformats.org/drawingml/2006/main">
            <a:r>
              <a:t>[Sources]</a:t>
            </a:r>
          </a:p>
          <a:p xmlns:a="http://schemas.openxmlformats.org/drawingml/2006/main">
            <a:r>
              <a:t>- npm run typecheck output, 2026-08-05</a:t>
            </a:r>
          </a:p>
          <a:p xmlns:a="http://schemas.openxmlformats.org/drawingml/2006/main">
            <a:r>
              <a:t>- SQLite PRAGMA integrity_check output, 2026-08-05</a:t>
            </a:r>
          </a:p>
          <a:p xmlns:a="http://schemas.openxmlformats.org/drawingml/2006/main">
            <a:r>
              <a:t>- mutqin-ai-service/tests/test_scoring.py</a:t>
            </a:r>
          </a:p>
          <a:p xmlns:a="http://schemas.openxmlformats.org/drawingml/2006/main">
            <a:r>
              <a:t>- mutqin-ai-service/tests/test_session.py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these as concentrated workstreams rather than a rewrite. The offline content foundation is already in place; remaining risk is primarily service integration and release quality.</a:t>
            </a:r>
          </a:p>
          <a:p xmlns:a="http://schemas.openxmlformats.org/drawingml/2006/main">
            <a:r>
              <a:t/>
            </a:r>
          </a:p>
          <a:p xmlns:a="http://schemas.openxmlformats.org/drawingml/2006/main">
            <a:r>
              <a:t>[Sources]</a:t>
            </a:r>
          </a:p>
          <a:p xmlns:a="http://schemas.openxmlformats.org/drawingml/2006/main">
            <a:r>
              <a:t>- src/services/api/</a:t>
            </a:r>
          </a:p>
          <a:p xmlns:a="http://schemas.openxmlformats.org/drawingml/2006/main">
            <a:r>
              <a:t>- src/services/ai/</a:t>
            </a:r>
          </a:p>
          <a:p xmlns:a="http://schemas.openxmlformats.org/drawingml/2006/main">
            <a:r>
              <a:t>- src/features/settings/screens/NotificationsSettingsScreen.tsx</a:t>
            </a:r>
          </a:p>
          <a:p xmlns:a="http://schemas.openxmlformats.org/drawingml/2006/main">
            <a:r>
              <a:t>- .eslintrc.js</a:t>
            </a:r>
          </a:p>
          <a:p xmlns:a="http://schemas.openxmlformats.org/drawingml/2006/main">
            <a:r>
              <a:t>- package.json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recommended sequence avoids building the entire cloud backend before learning whether the recitation model is accurate enough. First correct the contract and user flow, then validate locally, then deploy securely.</a:t>
            </a:r>
          </a:p>
          <a:p xmlns:a="http://schemas.openxmlformats.org/drawingml/2006/main">
            <a:r>
              <a:t/>
            </a:r>
          </a:p>
          <a:p xmlns:a="http://schemas.openxmlformats.org/drawingml/2006/main">
            <a:r>
              <a:t>[Sources]</a:t>
            </a:r>
          </a:p>
          <a:p xmlns:a="http://schemas.openxmlformats.org/drawingml/2006/main">
            <a:r>
              <a:t>- Current repository dependency analysis</a:t>
            </a:r>
          </a:p>
          <a:p xmlns:a="http://schemas.openxmlformats.org/drawingml/2006/main">
            <a:r>
              <a:t>- mutqin-ai-service/Dockerfile</a:t>
            </a:r>
          </a:p>
          <a:p xmlns:a="http://schemas.openxmlformats.org/drawingml/2006/main">
            <a:r>
              <a:t>- src/config/featureFlags.ts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decision: preserve the working offline app, focus the next milestone on a safe Hifz beta, and avoid presenting pronunciation confidence as authoritative tajweed analysis.</a:t>
            </a:r>
          </a:p>
          <a:p xmlns:a="http://schemas.openxmlformats.org/drawingml/2006/main">
            <a:r>
              <a:t/>
            </a:r>
          </a:p>
          <a:p xmlns:a="http://schemas.openxmlformats.org/drawingml/2006/main">
            <a:r>
              <a:t>[Sources]</a:t>
            </a:r>
          </a:p>
          <a:p xmlns:a="http://schemas.openxmlformats.org/drawingml/2006/main">
            <a:r>
              <a:t>- Synthesis of slides 2–9; local repository evidence only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b3d0712afc49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8b3711affa49bd" /><Relationship Type="http://schemas.openxmlformats.org/officeDocument/2006/relationships/slideLayout" Target="/ppt/slideLayouts/slideLayout1.xml" Id="R88337fd9039e45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337fd9039e45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e0591da6ac4f72" /><Relationship Type="http://schemas.openxmlformats.org/officeDocument/2006/relationships/notesSlide" Target="/ppt/notesSlides/notesSlide1.xml" Id="Rf9517fc4c66949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9a1f9432cf4f6a" /><Relationship Type="http://schemas.openxmlformats.org/officeDocument/2006/relationships/notesSlide" Target="/ppt/notesSlides/notesSlide2.xml" Id="Rcdfaad3f803a47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d2d26b4f644945" /><Relationship Type="http://schemas.openxmlformats.org/officeDocument/2006/relationships/notesSlide" Target="/ppt/notesSlides/notesSlide3.xml" Id="R783df0d0981c45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cb206ec50f4a3b" /><Relationship Type="http://schemas.openxmlformats.org/officeDocument/2006/relationships/notesSlide" Target="/ppt/notesSlides/notesSlide4.xml" Id="R64cfcc3276f04a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ffacd973eb4811" /><Relationship Type="http://schemas.openxmlformats.org/officeDocument/2006/relationships/notesSlide" Target="/ppt/notesSlides/notesSlide5.xml" Id="Rb07967c190fa42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68d7d2e26845ed" /><Relationship Type="http://schemas.openxmlformats.org/officeDocument/2006/relationships/notesSlide" Target="/ppt/notesSlides/notesSlide6.xml" Id="R81cb0f3f9a9444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9e45a53736544e2" /><Relationship Type="http://schemas.openxmlformats.org/officeDocument/2006/relationships/notesSlide" Target="/ppt/notesSlides/notesSlide7.xml" Id="Rdef95f5dc67a4c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f11e7ccf154f89" /><Relationship Type="http://schemas.openxmlformats.org/officeDocument/2006/relationships/notesSlide" Target="/ppt/notesSlides/notesSlide8.xml" Id="R0e273b86da8f4d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aa8db72fe6142b0" /><Relationship Type="http://schemas.openxmlformats.org/officeDocument/2006/relationships/notesSlide" Target="/ppt/notesSlides/notesSlide9.xml" Id="R0f2a0bed798346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2ad68660ee44a0" /><Relationship Type="http://schemas.openxmlformats.org/officeDocument/2006/relationships/notesSlide" Target="/ppt/notesSlides/notesSlide10.xml" Id="R6973efcc92b74e8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F07F1DE1-5451-4833-9A11-0ED3E4CA9214}"/>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Mutqin
Project Progress</a:t>
            </a:r>
          </a:p>
        </p:txBody>
      </p:sp>
      <p:sp>
        <p:nvSpPr>
          <p:cNvPr id="2" name="Subtitle-4-2">
            <a:extLst xmlns:a="http://schemas.openxmlformats.org/drawingml/2006/main">
              <a:ext uri="{FF2B5EF4-FFF2-40B4-BE49-F238E27FC236}">
                <a16:creationId xmlns:a16="http://schemas.microsoft.com/office/drawing/2014/main" id="{1AB2ED9F-E46A-424C-AA55-F7EAA45194C7}"/>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Offline-first Islamic learning app
Current condition • 5 August 2026</a:t>
            </a:r>
          </a:p>
        </p:txBody>
      </p:sp>
      <p:sp>
        <p:nvSpPr>
          <p:cNvPr id="3" name="Subtitle-4-3">
            <a:extLst xmlns:a="http://schemas.openxmlformats.org/drawingml/2006/main">
              <a:ext uri="{FF2B5EF4-FFF2-40B4-BE49-F238E27FC236}">
                <a16:creationId xmlns:a16="http://schemas.microsoft.com/office/drawing/2014/main" id="{8D1DC53C-48E2-498F-862C-A1E6F91946F6}"/>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MUTQIN • PROGRESS REVIEW</a:t>
            </a:r>
          </a:p>
        </p:txBody>
      </p:sp>
    </p:spTree>
    <p:extLst>
      <p:ext uri="{BB962C8B-B14F-4D97-AF65-F5344CB8AC3E}">
        <p14:creationId xmlns:p14="http://schemas.microsoft.com/office/powerpoint/2010/main" val="11138137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1F62545A-8EC6-40C8-B3A7-6704DD3650F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CBD491F9-2144-4A91-8965-3F745E67319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Mutqin is now a usable offline mobile application</a:t>
            </a:r>
          </a:p>
        </p:txBody>
      </p:sp>
      <p:sp>
        <p:nvSpPr>
          <p:cNvPr id="3" name="Google-Shape-534-p58-4">
            <a:extLst xmlns:a="http://schemas.openxmlformats.org/drawingml/2006/main">
              <a:ext uri="{FF2B5EF4-FFF2-40B4-BE49-F238E27FC236}">
                <a16:creationId xmlns:a16="http://schemas.microsoft.com/office/drawing/2014/main" id="{E31DF419-DD7A-4CD5-AB3A-DB091ADFAB6A}"/>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Working today</a:t>
            </a:r>
          </a:p>
          <a:p xmlns:a="http://schemas.openxmlformats.org/drawingml/2006/main">
            <a:pPr algn="l">
              <a:defRPr sz="2400">
                <a:solidFill>
                  <a:srgbClr val="000000"/>
                </a:solidFill>
                <a:latin typeface="Helvetica Neue"/>
                <a:ea typeface="Helvetica Neue"/>
                <a:cs typeface="Helvetica Neue"/>
              </a:defRPr>
            </a:pPr>
            <a:r>
              <a:t>• Android development build
• Modern tab-based interface
• Offline Quran and library
• Local bookmarks and progress
• Live prayer countdown</a:t>
            </a:r>
          </a:p>
        </p:txBody>
      </p:sp>
      <p:sp>
        <p:nvSpPr>
          <p:cNvPr id="4" name="Content-Placeholder-3-5">
            <a:extLst xmlns:a="http://schemas.openxmlformats.org/drawingml/2006/main">
              <a:ext uri="{FF2B5EF4-FFF2-40B4-BE49-F238E27FC236}">
                <a16:creationId xmlns:a16="http://schemas.microsoft.com/office/drawing/2014/main" id="{BDC0E057-266A-4258-84B4-C0B8F6E1D9E1}"/>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Not production-complete</a:t>
            </a:r>
          </a:p>
          <a:p xmlns:a="http://schemas.openxmlformats.org/drawingml/2006/main">
            <a:pPr algn="l">
              <a:defRPr sz="2400">
                <a:solidFill>
                  <a:srgbClr val="000000"/>
                </a:solidFill>
                <a:latin typeface="Helvetica Neue"/>
                <a:ea typeface="Helvetica Neue"/>
                <a:cs typeface="Helvetica Neue"/>
              </a:defRPr>
            </a:pPr>
            <a:r>
              <a:t>• AI service not deployed
• Authentication and cloud sync pending
• Recitation audio host unresolved
• Notification scheduling incomplete
• Release QA still required</a:t>
            </a:r>
          </a:p>
        </p:txBody>
      </p:sp>
    </p:spTree>
    <p:extLst>
      <p:ext uri="{BB962C8B-B14F-4D97-AF65-F5344CB8AC3E}">
        <p14:creationId xmlns:p14="http://schemas.microsoft.com/office/powerpoint/2010/main" val="4410563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CE18A010-7863-4B2A-AB7E-71C5DE3D6C4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F40CA6AC-3AD7-413E-802C-F9C63BE0434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Core learning and worship flows are functional</a:t>
            </a:r>
          </a:p>
        </p:txBody>
      </p:sp>
      <p:sp>
        <p:nvSpPr>
          <p:cNvPr id="3" name="Google-Shape-558-p61-4">
            <a:extLst xmlns:a="http://schemas.openxmlformats.org/drawingml/2006/main">
              <a:ext uri="{FF2B5EF4-FFF2-40B4-BE49-F238E27FC236}">
                <a16:creationId xmlns:a16="http://schemas.microsoft.com/office/drawing/2014/main" id="{D61F26D8-3E08-4716-81E2-FF151E229634}"/>
              </a:ext>
            </a:extLst>
          </p:cNvPr>
          <p:cNvSpPr>
            <a:spLocks xmlns:a="http://schemas.openxmlformats.org/drawingml/2006/main" noGrp="1"/>
          </p:cNvSpPr>
          <p:nvPr/>
        </p:nvSpPr>
        <p:spPr>
          <a:xfrm xmlns:a="http://schemas.openxmlformats.org/drawingml/2006/main">
            <a:off x="3936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QURAN
Full surah list, three reading modes, Uthmani font, daily verse, last-read tracking and verse bookmarks.</a:t>
            </a:r>
          </a:p>
        </p:txBody>
      </p:sp>
      <p:sp>
        <p:nvSpPr>
          <p:cNvPr id="4" name="Google-Shape-559-p61-5">
            <a:extLst xmlns:a="http://schemas.openxmlformats.org/drawingml/2006/main">
              <a:ext uri="{FF2B5EF4-FFF2-40B4-BE49-F238E27FC236}">
                <a16:creationId xmlns:a16="http://schemas.microsoft.com/office/drawing/2014/main" id="{13458E75-8714-4D7E-9A8A-185C2A0D9B29}"/>
              </a:ext>
            </a:extLst>
          </p:cNvPr>
          <p:cNvSpPr>
            <a:spLocks xmlns:a="http://schemas.openxmlformats.org/drawingml/2006/main" noGrp="1"/>
          </p:cNvSpPr>
          <p:nvPr/>
        </p:nvSpPr>
        <p:spPr>
          <a:xfrm xmlns:a="http://schemas.openxmlformats.org/drawingml/2006/main">
            <a:off x="43179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ISLAMIC LIBRARY
Hadith collections, dua categories, Names of Allah, offline search and unified bookmarks.</a:t>
            </a:r>
          </a:p>
        </p:txBody>
      </p:sp>
      <p:sp>
        <p:nvSpPr>
          <p:cNvPr id="5" name="Google-Shape-560-p61-6">
            <a:extLst xmlns:a="http://schemas.openxmlformats.org/drawingml/2006/main">
              <a:ext uri="{FF2B5EF4-FFF2-40B4-BE49-F238E27FC236}">
                <a16:creationId xmlns:a16="http://schemas.microsoft.com/office/drawing/2014/main" id="{0E04C174-2021-417F-A368-B25ACA6558C3}"/>
              </a:ext>
            </a:extLst>
          </p:cNvPr>
          <p:cNvSpPr>
            <a:spLocks xmlns:a="http://schemas.openxmlformats.org/drawingml/2006/main" noGrp="1"/>
          </p:cNvSpPr>
          <p:nvPr/>
        </p:nvSpPr>
        <p:spPr>
          <a:xfrm xmlns:a="http://schemas.openxmlformats.org/drawingml/2006/main">
            <a:off x="8232267"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DAILY PRACTICE
Prayer countdown, Qibla, Hifz tracking, daily content, onboarding and preferences.</a:t>
            </a:r>
          </a:p>
        </p:txBody>
      </p:sp>
      <p:sp>
        <p:nvSpPr>
          <p:cNvPr id="6" name="Google-Shape-561-p61-7">
            <a:extLst xmlns:a="http://schemas.openxmlformats.org/drawingml/2006/main">
              <a:ext uri="{FF2B5EF4-FFF2-40B4-BE49-F238E27FC236}">
                <a16:creationId xmlns:a16="http://schemas.microsoft.com/office/drawing/2014/main" id="{03E47E31-6232-4437-9960-731979B25F4E}"/>
              </a:ext>
            </a:extLst>
          </p:cNvPr>
          <p:cNvSpPr>
            <a:spLocks xmlns:a="http://schemas.openxmlformats.org/drawingml/2006/main" noGrp="1"/>
          </p:cNvSpPr>
          <p:nvPr/>
        </p:nvSpPr>
        <p:spPr>
          <a:xfrm xmlns:a="http://schemas.openxmlformats.org/drawingml/2006/main">
            <a:off x="4279868" y="3382328"/>
            <a:ext cx="315563" cy="353854"/>
          </a:xfrm>
          <a:custGeom xmlns:a="http://schemas.openxmlformats.org/drawingml/2006/main">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xmlns:a="http://schemas.openxmlformats.org/drawingml/2006/main">
            <a:srgbClr val="000000"/>
          </a:solidFill>
        </p:spPr>
      </p:sp>
      <p:sp>
        <p:nvSpPr>
          <p:cNvPr id="7" name="Google-Shape-562-p61-8">
            <a:extLst xmlns:a="http://schemas.openxmlformats.org/drawingml/2006/main">
              <a:ext uri="{FF2B5EF4-FFF2-40B4-BE49-F238E27FC236}">
                <a16:creationId xmlns:a16="http://schemas.microsoft.com/office/drawing/2014/main" id="{3BFA7E8D-D150-47D9-A41A-AC4A815A4E45}"/>
              </a:ext>
            </a:extLst>
          </p:cNvPr>
          <p:cNvSpPr>
            <a:spLocks xmlns:a="http://schemas.openxmlformats.org/drawingml/2006/main" noGrp="1"/>
          </p:cNvSpPr>
          <p:nvPr/>
        </p:nvSpPr>
        <p:spPr>
          <a:xfrm xmlns:a="http://schemas.openxmlformats.org/drawingml/2006/main">
            <a:off x="401384" y="3378232"/>
            <a:ext cx="327089" cy="362045"/>
          </a:xfrm>
          <a:custGeom xmlns:a="http://schemas.openxmlformats.org/drawingml/2006/main">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xmlns:a="http://schemas.openxmlformats.org/drawingml/2006/main">
            <a:srgbClr val="000000"/>
          </a:solidFill>
        </p:spPr>
      </p:sp>
      <p:sp>
        <p:nvSpPr>
          <p:cNvPr id="8" name="Google-Shape-563-p61-9">
            <a:extLst xmlns:a="http://schemas.openxmlformats.org/drawingml/2006/main">
              <a:ext uri="{FF2B5EF4-FFF2-40B4-BE49-F238E27FC236}">
                <a16:creationId xmlns:a16="http://schemas.microsoft.com/office/drawing/2014/main" id="{031AC57B-999E-4372-87B6-AD0A5BD25A42}"/>
              </a:ext>
            </a:extLst>
          </p:cNvPr>
          <p:cNvSpPr>
            <a:spLocks xmlns:a="http://schemas.openxmlformats.org/drawingml/2006/main" noGrp="1"/>
          </p:cNvSpPr>
          <p:nvPr/>
        </p:nvSpPr>
        <p:spPr>
          <a:xfrm xmlns:a="http://schemas.openxmlformats.org/drawingml/2006/main">
            <a:off x="8231600" y="3406807"/>
            <a:ext cx="338614" cy="270891"/>
          </a:xfrm>
          <a:custGeom xmlns:a="http://schemas.openxmlformats.org/drawingml/2006/main">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xmlns:a="http://schemas.openxmlformats.org/drawingml/2006/main">
            <a:srgbClr val="000000"/>
          </a:solidFill>
        </p:spPr>
      </p:sp>
    </p:spTree>
    <p:extLst>
      <p:ext uri="{BB962C8B-B14F-4D97-AF65-F5344CB8AC3E}">
        <p14:creationId xmlns:p14="http://schemas.microsoft.com/office/powerpoint/2010/main" val="8206508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CBAD54A2-A762-4103-8A5C-ADA68B834C31}"/>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484BC9F8-087C-4256-8C7B-FE6CCD4D7B00}"/>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5534C213-CAFE-4EBC-A5DB-AB2F7C20F8C5}"/>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79571185-7E58-45A9-A94F-308DE4BA061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5" name="Title-2-5">
            <a:extLst xmlns:a="http://schemas.openxmlformats.org/drawingml/2006/main">
              <a:ext uri="{FF2B5EF4-FFF2-40B4-BE49-F238E27FC236}">
                <a16:creationId xmlns:a16="http://schemas.microsoft.com/office/drawing/2014/main" id="{8799F27D-E661-4C2A-90CB-FAB123E5099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offline library has moved beyond demo data</a:t>
            </a:r>
          </a:p>
        </p:txBody>
      </p:sp>
      <p:sp>
        <p:nvSpPr>
          <p:cNvPr id="6" name="Content-Placeholder-9-6">
            <a:extLst xmlns:a="http://schemas.openxmlformats.org/drawingml/2006/main">
              <a:ext uri="{FF2B5EF4-FFF2-40B4-BE49-F238E27FC236}">
                <a16:creationId xmlns:a16="http://schemas.microsoft.com/office/drawing/2014/main" id="{FEF9A728-EEB4-4A59-A120-CA1B93C4CEC1}"/>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Ayahs across all 114 surahs</a:t>
            </a:r>
          </a:p>
        </p:txBody>
      </p:sp>
      <p:sp>
        <p:nvSpPr>
          <p:cNvPr id="7" name="Content-Placeholder-10-7">
            <a:extLst xmlns:a="http://schemas.openxmlformats.org/drawingml/2006/main">
              <a:ext uri="{FF2B5EF4-FFF2-40B4-BE49-F238E27FC236}">
                <a16:creationId xmlns:a16="http://schemas.microsoft.com/office/drawing/2014/main" id="{A50A35B0-17A4-49FA-94DA-D5786785DD9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Names of Allah + verified duas</a:t>
            </a:r>
          </a:p>
        </p:txBody>
      </p:sp>
      <p:sp>
        <p:nvSpPr>
          <p:cNvPr id="8" name="Content-Placeholder-11-8">
            <a:extLst xmlns:a="http://schemas.openxmlformats.org/drawingml/2006/main">
              <a:ext uri="{FF2B5EF4-FFF2-40B4-BE49-F238E27FC236}">
                <a16:creationId xmlns:a16="http://schemas.microsoft.com/office/drawing/2014/main" id="{523137ED-3978-4249-8C2E-3700AA326C6E}"/>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Hadiths across six collections</a:t>
            </a:r>
          </a:p>
        </p:txBody>
      </p:sp>
      <p:sp>
        <p:nvSpPr>
          <p:cNvPr id="9" name="Content-Placeholder-9-9">
            <a:extLst xmlns:a="http://schemas.openxmlformats.org/drawingml/2006/main">
              <a:ext uri="{FF2B5EF4-FFF2-40B4-BE49-F238E27FC236}">
                <a16:creationId xmlns:a16="http://schemas.microsoft.com/office/drawing/2014/main" id="{912E7E60-0A0A-450E-A2D8-BA851AE9DED1}"/>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6,236</a:t>
            </a:r>
          </a:p>
        </p:txBody>
      </p:sp>
      <p:sp>
        <p:nvSpPr>
          <p:cNvPr id="10" name="Content-Placeholder-9-10">
            <a:extLst xmlns:a="http://schemas.openxmlformats.org/drawingml/2006/main">
              <a:ext uri="{FF2B5EF4-FFF2-40B4-BE49-F238E27FC236}">
                <a16:creationId xmlns:a16="http://schemas.microsoft.com/office/drawing/2014/main" id="{7E51BA80-6FF5-4E8E-AC92-F3CAD3EB85C6}"/>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33,511</a:t>
            </a:r>
          </a:p>
        </p:txBody>
      </p:sp>
      <p:sp>
        <p:nvSpPr>
          <p:cNvPr id="11" name="Content-Placeholder-9-11">
            <a:extLst xmlns:a="http://schemas.openxmlformats.org/drawingml/2006/main">
              <a:ext uri="{FF2B5EF4-FFF2-40B4-BE49-F238E27FC236}">
                <a16:creationId xmlns:a16="http://schemas.microsoft.com/office/drawing/2014/main" id="{E1A33099-B903-498B-820C-A0894A8D2C8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99 + 70</a:t>
            </a:r>
          </a:p>
        </p:txBody>
      </p:sp>
      <p:sp>
        <p:nvSpPr>
          <p:cNvPr id="12" name="Content-Placeholder-15-12">
            <a:extLst xmlns:a="http://schemas.openxmlformats.org/drawingml/2006/main">
              <a:ext uri="{FF2B5EF4-FFF2-40B4-BE49-F238E27FC236}">
                <a16:creationId xmlns:a16="http://schemas.microsoft.com/office/drawing/2014/main" id="{E73D8811-EC43-4A2D-9872-145ABF4B6273}"/>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BUNDLED CONTENT</a:t>
            </a:r>
          </a:p>
          <a:p xmlns:a="http://schemas.openxmlformats.org/drawingml/2006/main">
            <a:pPr algn="l">
              <a:defRPr sz="1600">
                <a:solidFill>
                  <a:srgbClr val="000000"/>
                </a:solidFill>
                <a:latin typeface="Helvetica Neue"/>
                <a:ea typeface="Helvetica Neue"/>
                <a:cs typeface="Helvetica Neue"/>
              </a:defRPr>
            </a:pPr>
            <a:r>
              <a:t>The app installs a validated SQLite content pack and upgrades existing installations without replacing user-owned bookmarks or Hifz progress.</a:t>
            </a:r>
          </a:p>
        </p:txBody>
      </p:sp>
    </p:spTree>
    <p:extLst>
      <p:ext uri="{BB962C8B-B14F-4D97-AF65-F5344CB8AC3E}">
        <p14:creationId xmlns:p14="http://schemas.microsoft.com/office/powerpoint/2010/main" val="87595142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59D4CF-CB24-4C52-BF99-2365519A26F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Title-10-3">
            <a:extLst xmlns:a="http://schemas.openxmlformats.org/drawingml/2006/main">
              <a:ext uri="{FF2B5EF4-FFF2-40B4-BE49-F238E27FC236}">
                <a16:creationId xmlns:a16="http://schemas.microsoft.com/office/drawing/2014/main" id="{2A57E3DB-B4BA-4E4D-95F1-B050668373A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architecture keeps content local and AI replaceable</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3D51802F-36AC-4382-809D-EAACEAABDBAF}"/>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FE89DEDB-FDE4-4F64-9729-D45F89513497}"/>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4323EE6B-1F46-4568-88DE-DCDD03CC7622}"/>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63F9DE57-E16F-4CAE-9A12-60C665A36553}"/>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DEVICE</a:t>
            </a:r>
          </a:p>
        </p:txBody>
      </p:sp>
      <p:sp>
        <p:nvSpPr>
          <p:cNvPr id="8" name="Content-Placeholder-15-9">
            <a:extLst xmlns:a="http://schemas.openxmlformats.org/drawingml/2006/main">
              <a:ext uri="{FF2B5EF4-FFF2-40B4-BE49-F238E27FC236}">
                <a16:creationId xmlns:a16="http://schemas.microsoft.com/office/drawing/2014/main" id="{BAFA9966-A09B-4F62-A7D6-992D995FAC67}"/>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LOCAL DATA</a:t>
            </a:r>
          </a:p>
        </p:txBody>
      </p:sp>
      <p:sp>
        <p:nvSpPr>
          <p:cNvPr id="9" name="Content-Placeholder-15-10">
            <a:extLst xmlns:a="http://schemas.openxmlformats.org/drawingml/2006/main">
              <a:ext uri="{FF2B5EF4-FFF2-40B4-BE49-F238E27FC236}">
                <a16:creationId xmlns:a16="http://schemas.microsoft.com/office/drawing/2014/main" id="{CC2ABAB6-6A3A-4B85-952C-43D939C21E0F}"/>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SERVICES</a:t>
            </a:r>
          </a:p>
        </p:txBody>
      </p:sp>
      <p:sp>
        <p:nvSpPr>
          <p:cNvPr id="10" name="Text-Placeholder-16-11">
            <a:extLst xmlns:a="http://schemas.openxmlformats.org/drawingml/2006/main">
              <a:ext uri="{FF2B5EF4-FFF2-40B4-BE49-F238E27FC236}">
                <a16:creationId xmlns:a16="http://schemas.microsoft.com/office/drawing/2014/main" id="{CC7FB01F-3879-458A-971B-ADD013EBEBEC}"/>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SQLite + MMKV</a:t>
            </a:r>
          </a:p>
          <a:p xmlns:a="http://schemas.openxmlformats.org/drawingml/2006/main">
            <a:pPr algn="l">
              <a:defRPr sz="2400">
                <a:solidFill>
                  <a:srgbClr val="000000"/>
                </a:solidFill>
                <a:latin typeface="Helvetica Neue"/>
                <a:ea typeface="Helvetica Neue"/>
                <a:cs typeface="Helvetica Neue"/>
              </a:defRPr>
            </a:pPr>
            <a:r>
              <a:t>Content, bookmarks, preferences and Hifz progress.</a:t>
            </a:r>
          </a:p>
        </p:txBody>
      </p:sp>
      <p:sp>
        <p:nvSpPr>
          <p:cNvPr id="11" name="Text-Placeholder-16-12">
            <a:extLst xmlns:a="http://schemas.openxmlformats.org/drawingml/2006/main">
              <a:ext uri="{FF2B5EF4-FFF2-40B4-BE49-F238E27FC236}">
                <a16:creationId xmlns:a16="http://schemas.microsoft.com/office/drawing/2014/main" id="{DDDE45A5-0174-451E-9E41-E4FA5F97F1EE}"/>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Expo client</a:t>
            </a:r>
          </a:p>
          <a:p xmlns:a="http://schemas.openxmlformats.org/drawingml/2006/main">
            <a:pPr algn="l">
              <a:defRPr sz="2400">
                <a:solidFill>
                  <a:srgbClr val="000000"/>
                </a:solidFill>
                <a:latin typeface="Helvetica Neue"/>
                <a:ea typeface="Helvetica Neue"/>
                <a:cs typeface="Helvetica Neue"/>
              </a:defRPr>
            </a:pPr>
            <a:r>
              <a:t>Navigation, reading, recording and responsive UI.</a:t>
            </a:r>
          </a:p>
        </p:txBody>
      </p:sp>
      <p:sp>
        <p:nvSpPr>
          <p:cNvPr id="12" name="Text-Placeholder-16-13">
            <a:extLst xmlns:a="http://schemas.openxmlformats.org/drawingml/2006/main">
              <a:ext uri="{FF2B5EF4-FFF2-40B4-BE49-F238E27FC236}">
                <a16:creationId xmlns:a16="http://schemas.microsoft.com/office/drawing/2014/main" id="{61CA2D4D-3A26-4E91-B325-340853B230DF}"/>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API boundary</a:t>
            </a:r>
          </a:p>
          <a:p xmlns:a="http://schemas.openxmlformats.org/drawingml/2006/main">
            <a:pPr algn="l">
              <a:defRPr sz="2400">
                <a:solidFill>
                  <a:srgbClr val="000000"/>
                </a:solidFill>
                <a:latin typeface="Helvetica Neue"/>
                <a:ea typeface="Helvetica Neue"/>
                <a:cs typeface="Helvetica Neue"/>
              </a:defRPr>
            </a:pPr>
            <a:r>
              <a:t>Backend and AI providers can evolve without rewriting features.</a:t>
            </a:r>
          </a:p>
        </p:txBody>
      </p:sp>
    </p:spTree>
    <p:extLst>
      <p:ext uri="{BB962C8B-B14F-4D97-AF65-F5344CB8AC3E}">
        <p14:creationId xmlns:p14="http://schemas.microsoft.com/office/powerpoint/2010/main" val="44832722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EF7311B7-1BB0-41DA-A5D0-997DF0D27C3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6AC900C2-5465-4597-93FF-08CC85FBDD1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Hifz is a complete workflow—but not yet a trusted AI feature</a:t>
            </a:r>
          </a:p>
        </p:txBody>
      </p:sp>
      <p:sp>
        <p:nvSpPr>
          <p:cNvPr id="3" name="Google-Shape-534-p58-4">
            <a:extLst xmlns:a="http://schemas.openxmlformats.org/drawingml/2006/main">
              <a:ext uri="{FF2B5EF4-FFF2-40B4-BE49-F238E27FC236}">
                <a16:creationId xmlns:a16="http://schemas.microsoft.com/office/drawing/2014/main" id="{C0CB8847-8324-4D63-8489-D81275F0A6ED}"/>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Already implemented</a:t>
            </a:r>
          </a:p>
          <a:p xmlns:a="http://schemas.openxmlformats.org/drawingml/2006/main">
            <a:pPr algn="l">
              <a:defRPr sz="2400">
                <a:solidFill>
                  <a:srgbClr val="000000"/>
                </a:solidFill>
                <a:latin typeface="Helvetica Neue"/>
                <a:ea typeface="Helvetica Neue"/>
                <a:cs typeface="Helvetica Neue"/>
              </a:defRPr>
            </a:pPr>
            <a:r>
              <a:t>• Session setup and audio recording
• Evaluation provider contract
• Word-level result model
• Summary and revision status
• Python scoring service prototype</a:t>
            </a:r>
          </a:p>
        </p:txBody>
      </p:sp>
      <p:sp>
        <p:nvSpPr>
          <p:cNvPr id="4" name="Content-Placeholder-3-5">
            <a:extLst xmlns:a="http://schemas.openxmlformats.org/drawingml/2006/main">
              <a:ext uri="{FF2B5EF4-FFF2-40B4-BE49-F238E27FC236}">
                <a16:creationId xmlns:a16="http://schemas.microsoft.com/office/drawing/2014/main" id="{006EEBDD-0229-4809-85CE-AC5F3A19AD17}"/>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Required before beta</a:t>
            </a:r>
          </a:p>
          <a:p xmlns:a="http://schemas.openxmlformats.org/drawingml/2006/main">
            <a:pPr algn="l">
              <a:defRPr sz="2400">
                <a:solidFill>
                  <a:srgbClr val="000000"/>
                </a:solidFill>
                <a:latin typeface="Helvetica Neue"/>
                <a:ea typeface="Helvetica Neue"/>
                <a:cs typeface="Helvetica Neue"/>
              </a:defRPr>
            </a:pPr>
            <a:r>
              <a:t>• Valid start/end ayah ranges
• Remove non-spoken Quran marks
• Real-audio accuracy benchmark
• Secure deployment and rate limits
• User approval before saving progress</a:t>
            </a:r>
          </a:p>
        </p:txBody>
      </p:sp>
    </p:spTree>
    <p:extLst>
      <p:ext uri="{BB962C8B-B14F-4D97-AF65-F5344CB8AC3E}">
        <p14:creationId xmlns:p14="http://schemas.microsoft.com/office/powerpoint/2010/main" val="36006411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 name="Google-Shape-532-p58-2">
            <a:extLst xmlns:a="http://schemas.openxmlformats.org/drawingml/2006/main">
              <a:ext uri="{FF2B5EF4-FFF2-40B4-BE49-F238E27FC236}">
                <a16:creationId xmlns:a16="http://schemas.microsoft.com/office/drawing/2014/main" id="{BF9B1E66-9CCC-4AE4-8E3D-76B5835E2A1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926074C2-1F9F-4369-B666-A784E9C8F23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current baseline is stable enough for controlled integration</a:t>
            </a:r>
          </a:p>
        </p:txBody>
      </p:sp>
      <p:sp>
        <p:nvSpPr>
          <p:cNvPr id="3" name="Google-Shape-534-p58-4">
            <a:extLst xmlns:a="http://schemas.openxmlformats.org/drawingml/2006/main">
              <a:ext uri="{FF2B5EF4-FFF2-40B4-BE49-F238E27FC236}">
                <a16:creationId xmlns:a16="http://schemas.microsoft.com/office/drawing/2014/main" id="{881494CD-FAD3-4453-89E1-29B44262341F}"/>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VALIDATED LOCALLY
Code, content and the scoring prototype pass the available structural checks.</a:t>
            </a:r>
          </a:p>
        </p:txBody>
      </p:sp>
      <p:sp>
        <p:nvSpPr>
          <p:cNvPr id="4" name="Content-Placeholder-10-5">
            <a:extLst xmlns:a="http://schemas.openxmlformats.org/drawingml/2006/main">
              <a:ext uri="{FF2B5EF4-FFF2-40B4-BE49-F238E27FC236}">
                <a16:creationId xmlns:a16="http://schemas.microsoft.com/office/drawing/2014/main" id="{ACC87317-6D39-4C58-A36E-F272F3E3077C}"/>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TypeScript compilation passed</a:t>
            </a:r>
          </a:p>
        </p:txBody>
      </p:sp>
      <p:sp>
        <p:nvSpPr>
          <p:cNvPr id="5" name="Google-Shape-340-p61-6">
            <a:extLst xmlns:a="http://schemas.openxmlformats.org/drawingml/2006/main">
              <a:ext uri="{FF2B5EF4-FFF2-40B4-BE49-F238E27FC236}">
                <a16:creationId xmlns:a16="http://schemas.microsoft.com/office/drawing/2014/main" id="{8023393C-A110-4A55-B53F-6436E2090660}"/>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42482A2E-695F-4DF5-B1D7-6463A708103F}"/>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defRPr sz="1800">
                <a:solidFill>
                  <a:srgbClr val="000000"/>
                </a:solidFill>
                <a:latin typeface="Helvetica Neue"/>
                <a:ea typeface="Helvetica Neue"/>
                <a:cs typeface="Helvetica Neue"/>
              </a:defRPr>
            </a:pPr>
            <a:r>
              <a:t/>
            </a:r>
          </a:p>
          <a:p xmlns:a="http://schemas.openxmlformats.org/drawingml/2006/main">
            <a:pPr algn="l">
              <a:defRPr sz="1800">
                <a:solidFill>
                  <a:srgbClr val="000000"/>
                </a:solidFill>
                <a:latin typeface="Helvetica Neue"/>
                <a:ea typeface="Helvetica Neue"/>
                <a:cs typeface="Helvetica Neue"/>
              </a:defRPr>
            </a:pPr>
            <a:r>
              <a:t/>
            </a:r>
          </a:p>
        </p:txBody>
      </p:sp>
      <p:sp>
        <p:nvSpPr>
          <p:cNvPr id="7" name="Content-Placeholder-10-8">
            <a:extLst xmlns:a="http://schemas.openxmlformats.org/drawingml/2006/main">
              <a:ext uri="{FF2B5EF4-FFF2-40B4-BE49-F238E27FC236}">
                <a16:creationId xmlns:a16="http://schemas.microsoft.com/office/drawing/2014/main" id="{BE5EE563-7D89-49DE-B99B-93FD08BC769A}"/>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SQLite integrity check passed</a:t>
            </a:r>
          </a:p>
        </p:txBody>
      </p:sp>
      <p:sp>
        <p:nvSpPr>
          <p:cNvPr id="8" name="Google-Shape-340-p61-9">
            <a:extLst xmlns:a="http://schemas.openxmlformats.org/drawingml/2006/main">
              <a:ext uri="{FF2B5EF4-FFF2-40B4-BE49-F238E27FC236}">
                <a16:creationId xmlns:a16="http://schemas.microsoft.com/office/drawing/2014/main" id="{47797C4B-1DF3-4242-BC25-7DF0E78C2B1E}"/>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4A88E553-3714-4CB5-BCF3-F5DB5ED3EA02}"/>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96383"/>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114 surahs / 6,236 ayahs verified</a:t>
            </a:r>
          </a:p>
        </p:txBody>
      </p:sp>
      <p:sp>
        <p:nvSpPr>
          <p:cNvPr id="10" name="Google-Shape-340-p61-11">
            <a:extLst xmlns:a="http://schemas.openxmlformats.org/drawingml/2006/main">
              <a:ext uri="{FF2B5EF4-FFF2-40B4-BE49-F238E27FC236}">
                <a16:creationId xmlns:a16="http://schemas.microsoft.com/office/drawing/2014/main" id="{122C0E4E-0FFE-43BB-8A66-6FDB0E708E76}"/>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97224F2C-5DC3-4C8B-95CF-2CA516F5E34A}"/>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81739"/>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Hadith, dua and Names counts verified</a:t>
            </a:r>
          </a:p>
        </p:txBody>
      </p:sp>
      <p:sp>
        <p:nvSpPr>
          <p:cNvPr id="12" name="Google-Shape-340-p61-13">
            <a:extLst xmlns:a="http://schemas.openxmlformats.org/drawingml/2006/main">
              <a:ext uri="{FF2B5EF4-FFF2-40B4-BE49-F238E27FC236}">
                <a16:creationId xmlns:a16="http://schemas.microsoft.com/office/drawing/2014/main" id="{97A2C641-C208-492D-923A-E19F5DD91722}"/>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275F9307-EBEE-4F21-AEBE-6DA457BF3738}"/>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87786"/>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 standalone AI scoring tests passed</a:t>
            </a:r>
          </a:p>
        </p:txBody>
      </p:sp>
      <p:sp>
        <p:nvSpPr>
          <p:cNvPr id="14" name="Google-Shape-340-p61-15">
            <a:extLst xmlns:a="http://schemas.openxmlformats.org/drawingml/2006/main">
              <a:ext uri="{FF2B5EF4-FFF2-40B4-BE49-F238E27FC236}">
                <a16:creationId xmlns:a16="http://schemas.microsoft.com/office/drawing/2014/main" id="{5B46E4EF-169A-4222-BCB2-04DA1D3CD6BA}"/>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Tree>
    <p:extLst>
      <p:ext uri="{BB962C8B-B14F-4D97-AF65-F5344CB8AC3E}">
        <p14:creationId xmlns:p14="http://schemas.microsoft.com/office/powerpoint/2010/main" val="98591984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EEB6011A-6568-4C0C-96B5-947C50E13295}"/>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Title-2-3">
            <a:extLst xmlns:a="http://schemas.openxmlformats.org/drawingml/2006/main">
              <a:ext uri="{FF2B5EF4-FFF2-40B4-BE49-F238E27FC236}">
                <a16:creationId xmlns:a16="http://schemas.microsoft.com/office/drawing/2014/main" id="{1321997E-4F67-4694-A3C3-80214C07F636}"/>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Four gaps separate the prototype from a release candidate</a:t>
            </a:r>
          </a:p>
        </p:txBody>
      </p:sp>
      <p:sp>
        <p:nvSpPr>
          <p:cNvPr id="3" name="Content-Placeholder-9-4">
            <a:extLst xmlns:a="http://schemas.openxmlformats.org/drawingml/2006/main">
              <a:ext uri="{FF2B5EF4-FFF2-40B4-BE49-F238E27FC236}">
                <a16:creationId xmlns:a16="http://schemas.microsoft.com/office/drawing/2014/main" id="{ADBA0BF2-B3FC-46CE-B318-3FE4DDA984E0}"/>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Backend</a:t>
            </a:r>
          </a:p>
          <a:p xmlns:a="http://schemas.openxmlformats.org/drawingml/2006/main">
            <a:pPr algn="l">
              <a:defRPr sz="2400">
                <a:solidFill>
                  <a:srgbClr val="000000"/>
                </a:solidFill>
                <a:latin typeface="Helvetica Neue"/>
                <a:ea typeface="Helvetica Neue"/>
                <a:cs typeface="Helvetica Neue"/>
              </a:defRPr>
            </a:pPr>
            <a:r>
              <a:t>Authentication, sync and production AI hosting.</a:t>
            </a:r>
          </a:p>
        </p:txBody>
      </p:sp>
      <p:sp>
        <p:nvSpPr>
          <p:cNvPr id="4" name="Content-Placeholder-10-5">
            <a:extLst xmlns:a="http://schemas.openxmlformats.org/drawingml/2006/main">
              <a:ext uri="{FF2B5EF4-FFF2-40B4-BE49-F238E27FC236}">
                <a16:creationId xmlns:a16="http://schemas.microsoft.com/office/drawing/2014/main" id="{165F07A0-E19E-4DC4-BBEE-BC0B2BC32921}"/>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AI validation</a:t>
            </a:r>
          </a:p>
          <a:p xmlns:a="http://schemas.openxmlformats.org/drawingml/2006/main">
            <a:pPr algn="l">
              <a:defRPr sz="2400">
                <a:solidFill>
                  <a:srgbClr val="000000"/>
                </a:solidFill>
                <a:latin typeface="Helvetica Neue"/>
                <a:ea typeface="Helvetica Neue"/>
                <a:cs typeface="Helvetica Neue"/>
              </a:defRPr>
            </a:pPr>
            <a:r>
              <a:t>Real-recitation benchmarks and failure handling.</a:t>
            </a:r>
          </a:p>
        </p:txBody>
      </p:sp>
      <p:sp>
        <p:nvSpPr>
          <p:cNvPr id="5" name="Content-Placeholder-9-6">
            <a:extLst xmlns:a="http://schemas.openxmlformats.org/drawingml/2006/main">
              <a:ext uri="{FF2B5EF4-FFF2-40B4-BE49-F238E27FC236}">
                <a16:creationId xmlns:a16="http://schemas.microsoft.com/office/drawing/2014/main" id="{A562CF32-F909-485C-B7CF-F0F9BFA978F5}"/>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Media</a:t>
            </a:r>
          </a:p>
          <a:p xmlns:a="http://schemas.openxmlformats.org/drawingml/2006/main">
            <a:pPr algn="l">
              <a:defRPr sz="2400">
                <a:solidFill>
                  <a:srgbClr val="000000"/>
                </a:solidFill>
                <a:latin typeface="Helvetica Neue"/>
                <a:ea typeface="Helvetica Neue"/>
                <a:cs typeface="Helvetica Neue"/>
              </a:defRPr>
            </a:pPr>
            <a:r>
              <a:t>Reliable recitation audio and notifications.</a:t>
            </a:r>
          </a:p>
        </p:txBody>
      </p:sp>
      <p:sp>
        <p:nvSpPr>
          <p:cNvPr id="6" name="Content-Placeholder-10-7">
            <a:extLst xmlns:a="http://schemas.openxmlformats.org/drawingml/2006/main">
              <a:ext uri="{FF2B5EF4-FFF2-40B4-BE49-F238E27FC236}">
                <a16:creationId xmlns:a16="http://schemas.microsoft.com/office/drawing/2014/main" id="{326DE8BC-E51F-4ECC-AF58-129E3431E2CE}"/>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Release quality</a:t>
            </a:r>
          </a:p>
          <a:p xmlns:a="http://schemas.openxmlformats.org/drawingml/2006/main">
            <a:pPr algn="l">
              <a:defRPr sz="2400">
                <a:solidFill>
                  <a:srgbClr val="000000"/>
                </a:solidFill>
                <a:latin typeface="Helvetica Neue"/>
                <a:ea typeface="Helvetica Neue"/>
                <a:cs typeface="Helvetica Neue"/>
              </a:defRPr>
            </a:pPr>
            <a:r>
              <a:t>Mobile tests, accessibility and translations.</a:t>
            </a:r>
          </a:p>
        </p:txBody>
      </p:sp>
    </p:spTree>
    <p:extLst>
      <p:ext uri="{BB962C8B-B14F-4D97-AF65-F5344CB8AC3E}">
        <p14:creationId xmlns:p14="http://schemas.microsoft.com/office/powerpoint/2010/main" val="28404799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E0F745C2-4330-4B43-BACB-8E2BFC92520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9</a:t>
            </a:r>
          </a:p>
        </p:txBody>
      </p:sp>
      <p:sp>
        <p:nvSpPr>
          <p:cNvPr id="2" name="Title-10-3">
            <a:extLst xmlns:a="http://schemas.openxmlformats.org/drawingml/2006/main">
              <a:ext uri="{FF2B5EF4-FFF2-40B4-BE49-F238E27FC236}">
                <a16:creationId xmlns:a16="http://schemas.microsoft.com/office/drawing/2014/main" id="{012185DF-4FA3-4579-ACF0-D935AEEF1E8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next phase should convert the Hifz prototype into a trusted beta</a:t>
            </a:r>
          </a:p>
        </p:txBody>
      </p:sp>
      <p:cxnSp>
        <p:nvCxnSpPr>
          <p:cNvPr id="18"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61933D5D-D38C-4970-871B-C4AAA2B77E64}"/>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BE254842-B744-49D0-B71F-BE84DD70A8DC}"/>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E64326E1-B87E-498B-89AC-74761B1A9F0E}"/>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B4F611DC-361B-4F25-BCE1-E9AB3ABAD312}"/>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D8732EAF-A578-4670-AC2F-7BD10AB53C67}"/>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Stabilize</a:t>
            </a:r>
          </a:p>
          <a:p xmlns:a="http://schemas.openxmlformats.org/drawingml/2006/main">
            <a:pPr algn="l">
              <a:defRPr sz="1600">
                <a:solidFill>
                  <a:srgbClr val="000000"/>
                </a:solidFill>
                <a:latin typeface="Helvetica Neue"/>
                <a:ea typeface="Helvetica Neue"/>
                <a:cs typeface="Helvetica Neue"/>
              </a:defRPr>
            </a:pPr>
            <a:r>
              <a:t>Limit session ranges, correct recording states and harden scoring against Quranic marks.</a:t>
            </a:r>
          </a:p>
        </p:txBody>
      </p:sp>
      <p:sp>
        <p:nvSpPr>
          <p:cNvPr id="9" name="Rounded-Rectangle-21-10">
            <a:extLst xmlns:a="http://schemas.openxmlformats.org/drawingml/2006/main">
              <a:ext uri="{FF2B5EF4-FFF2-40B4-BE49-F238E27FC236}">
                <a16:creationId xmlns:a16="http://schemas.microsoft.com/office/drawing/2014/main" id="{53D5C621-DD93-4A87-9CD4-E3966A4F60E3}"/>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90841147-BB86-4EBE-8FF2-AEECC2DAFC55}"/>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Integrate</a:t>
            </a:r>
          </a:p>
          <a:p xmlns:a="http://schemas.openxmlformats.org/drawingml/2006/main">
            <a:pPr algn="l">
              <a:defRPr sz="1600">
                <a:solidFill>
                  <a:srgbClr val="000000"/>
                </a:solidFill>
                <a:latin typeface="Helvetica Neue"/>
                <a:ea typeface="Helvetica Neue"/>
                <a:cs typeface="Helvetica Neue"/>
              </a:defRPr>
            </a:pPr>
            <a:r>
              <a:t>Run the real model locally, connect a device and test representative recordings end to end.</a:t>
            </a:r>
          </a:p>
        </p:txBody>
      </p:sp>
      <p:sp>
        <p:nvSpPr>
          <p:cNvPr id="11" name="Rounded-Rectangle-23-12">
            <a:extLst xmlns:a="http://schemas.openxmlformats.org/drawingml/2006/main">
              <a:ext uri="{FF2B5EF4-FFF2-40B4-BE49-F238E27FC236}">
                <a16:creationId xmlns:a16="http://schemas.microsoft.com/office/drawing/2014/main" id="{7377546D-F1DB-4F9E-BE7B-0413F6FC8613}"/>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201D160C-EB83-4CF7-AB00-101A73D470D5}"/>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Release beta</a:t>
            </a:r>
          </a:p>
          <a:p xmlns:a="http://schemas.openxmlformats.org/drawingml/2006/main">
            <a:pPr algn="l">
              <a:defRPr sz="1600">
                <a:solidFill>
                  <a:srgbClr val="000000"/>
                </a:solidFill>
                <a:latin typeface="Helvetica Neue"/>
                <a:ea typeface="Helvetica Neue"/>
                <a:cs typeface="Helvetica Neue"/>
              </a:defRPr>
            </a:pPr>
            <a:r>
              <a:t>Deploy behind HTTPS with authentication, rate limits, monitoring and a controlled feature flag.</a:t>
            </a:r>
          </a:p>
        </p:txBody>
      </p:sp>
      <p:sp>
        <p:nvSpPr>
          <p:cNvPr id="13" name="Text-Placeholder-16-14">
            <a:extLst xmlns:a="http://schemas.openxmlformats.org/drawingml/2006/main">
              <a:ext uri="{FF2B5EF4-FFF2-40B4-BE49-F238E27FC236}">
                <a16:creationId xmlns:a16="http://schemas.microsoft.com/office/drawing/2014/main" id="{25A24312-B3AE-439F-93C0-F404CD2D407D}"/>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NEXT</a:t>
            </a:r>
          </a:p>
        </p:txBody>
      </p:sp>
      <p:sp>
        <p:nvSpPr>
          <p:cNvPr id="14" name="Text-Placeholder-16-15">
            <a:extLst xmlns:a="http://schemas.openxmlformats.org/drawingml/2006/main">
              <a:ext uri="{FF2B5EF4-FFF2-40B4-BE49-F238E27FC236}">
                <a16:creationId xmlns:a16="http://schemas.microsoft.com/office/drawing/2014/main" id="{1C502DBF-503C-4BE1-9A61-3D32FD8EE87C}"/>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NOW</a:t>
            </a:r>
          </a:p>
        </p:txBody>
      </p:sp>
      <p:sp>
        <p:nvSpPr>
          <p:cNvPr id="15" name="Text-Placeholder-16-16">
            <a:extLst xmlns:a="http://schemas.openxmlformats.org/drawingml/2006/main">
              <a:ext uri="{FF2B5EF4-FFF2-40B4-BE49-F238E27FC236}">
                <a16:creationId xmlns:a16="http://schemas.microsoft.com/office/drawing/2014/main" id="{A970BAE5-B2AD-43E2-AF89-73F4298EFD94}"/>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THEN</a:t>
            </a:r>
          </a:p>
        </p:txBody>
      </p:sp>
    </p:spTree>
    <p:extLst>
      <p:ext uri="{BB962C8B-B14F-4D97-AF65-F5344CB8AC3E}">
        <p14:creationId xmlns:p14="http://schemas.microsoft.com/office/powerpoint/2010/main" val="207744118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C9F0D7A-99AF-4676-A6D3-B3357EFFD0D0}"/>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Proceed with a
controlled Hifz beta</a:t>
            </a:r>
          </a:p>
        </p:txBody>
      </p:sp>
      <p:sp>
        <p:nvSpPr>
          <p:cNvPr id="2" name="Subtitle-4-2">
            <a:extLst xmlns:a="http://schemas.openxmlformats.org/drawingml/2006/main">
              <a:ext uri="{FF2B5EF4-FFF2-40B4-BE49-F238E27FC236}">
                <a16:creationId xmlns:a16="http://schemas.microsoft.com/office/drawing/2014/main" id="{087A1559-AD12-48F6-BE79-786C4690E81B}"/>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Harden the AI service</a:t>
            </a:r>
          </a:p>
          <a:p xmlns:a="http://schemas.openxmlformats.org/drawingml/2006/main">
            <a:pPr algn="l">
              <a:defRPr sz="2400">
                <a:solidFill>
                  <a:srgbClr val="000000"/>
                </a:solidFill>
                <a:latin typeface="Helvetica Neue"/>
                <a:ea typeface="Helvetica Neue"/>
                <a:cs typeface="Helvetica Neue"/>
              </a:defRPr>
            </a:pPr>
            <a:r>
              <a:t>Integrate real recordings</a:t>
            </a:r>
          </a:p>
          <a:p xmlns:a="http://schemas.openxmlformats.org/drawingml/2006/main">
            <a:pPr algn="l">
              <a:defRPr sz="2400">
                <a:solidFill>
                  <a:srgbClr val="000000"/>
                </a:solidFill>
                <a:latin typeface="Helvetica Neue"/>
                <a:ea typeface="Helvetica Neue"/>
                <a:cs typeface="Helvetica Neue"/>
              </a:defRPr>
            </a:pPr>
            <a:r>
              <a:t>Expand after accuracy review</a:t>
            </a:r>
          </a:p>
        </p:txBody>
      </p:sp>
      <p:sp>
        <p:nvSpPr>
          <p:cNvPr id="3" name="Subtitle-4-3">
            <a:extLst xmlns:a="http://schemas.openxmlformats.org/drawingml/2006/main">
              <a:ext uri="{FF2B5EF4-FFF2-40B4-BE49-F238E27FC236}">
                <a16:creationId xmlns:a16="http://schemas.microsoft.com/office/drawing/2014/main" id="{EC6D31BB-C60F-4AE4-866D-36E5CE5402DE}"/>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RECOMMENDATION</a:t>
            </a:r>
          </a:p>
        </p:txBody>
      </p:sp>
    </p:spTree>
    <p:extLst>
      <p:ext uri="{BB962C8B-B14F-4D97-AF65-F5344CB8AC3E}">
        <p14:creationId xmlns:p14="http://schemas.microsoft.com/office/powerpoint/2010/main" val="5744050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2026-08-05T16:43:30.0550000Z</dcterms:created>
  <dcterms:modified xsi:type="dcterms:W3CDTF">2026-08-05T16:43:30.0550000Z</dcterms:modified>
</coreProperties>
</file>